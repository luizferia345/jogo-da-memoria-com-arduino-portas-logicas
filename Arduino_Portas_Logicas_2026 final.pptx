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69" r:id="rId3"/>
    <p:sldId id="268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66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60814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0399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jp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8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0"/>
            <a:ext cx="45720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" y="36576"/>
            <a:ext cx="2286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873309" y="36576"/>
            <a:ext cx="228600" cy="2286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457200"/>
            <a:ext cx="8229600" cy="4114800"/>
          </a:xfrm>
          <a:prstGeom prst="rect">
            <a:avLst/>
          </a:prstGeom>
          <a:solidFill>
            <a:srgbClr val="111827">
              <a:alpha val="70000"/>
            </a:srgbClr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640080"/>
            <a:ext cx="1097280" cy="10972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14400" y="18288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 CAMARGO ARANHA  ·  CENTRO PAULA SOUZA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40080" y="2148840"/>
            <a:ext cx="7863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JOGO DA MEMÓRIA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640080" y="2834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00E5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 ARDUINO E PORTAS LÓGICAS DIGITAIS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3200400" y="3337560"/>
            <a:ext cx="2743200" cy="3657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14400" y="3429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Murilo · Vinícius · Luiz · Maicon · Thiago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4400" y="3794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Orientador: Juarez Brandão  ·  1º Semestre — Desenvolvimento de Sistemas  · 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A0F5218E-6D04-4AF1-BC93-3F9DEF81A48D}"/>
              </a:ext>
            </a:extLst>
          </p:cNvPr>
          <p:cNvSpPr/>
          <p:nvPr/>
        </p:nvSpPr>
        <p:spPr>
          <a:xfrm>
            <a:off x="0" y="960408"/>
            <a:ext cx="9144000" cy="41424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hape 1">
            <a:extLst>
              <a:ext uri="{FF2B5EF4-FFF2-40B4-BE49-F238E27FC236}">
                <a16:creationId xmlns:a16="http://schemas.microsoft.com/office/drawing/2014/main" id="{23F86655-2B76-40C5-9A3E-B17D6C05D1AA}"/>
              </a:ext>
            </a:extLst>
          </p:cNvPr>
          <p:cNvSpPr/>
          <p:nvPr/>
        </p:nvSpPr>
        <p:spPr>
          <a:xfrm>
            <a:off x="0" y="-4762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TextBox 2"/>
          <p:cNvSpPr txBox="1"/>
          <p:nvPr/>
        </p:nvSpPr>
        <p:spPr>
          <a:xfrm>
            <a:off x="316411" y="640239"/>
            <a:ext cx="2772810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Orientação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e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apoio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acadêmico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do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projeto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4994" y="40670"/>
            <a:ext cx="5643853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rPr sz="4000" dirty="0">
                <a:solidFill>
                  <a:schemeClr val="bg1">
                    <a:lumMod val="95000"/>
                  </a:schemeClr>
                </a:solidFill>
              </a:rPr>
              <a:t>PROFESSOR ORIENTADOR</a:t>
            </a:r>
          </a:p>
        </p:txBody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A4A71D3B-8F7A-4450-BF1E-51693997A3DF}"/>
              </a:ext>
            </a:extLst>
          </p:cNvPr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12</a:t>
            </a:r>
            <a:endParaRPr lang="en-US" sz="12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D691158-D98E-4E98-859C-444331C1BCB0}"/>
              </a:ext>
            </a:extLst>
          </p:cNvPr>
          <p:cNvSpPr/>
          <p:nvPr/>
        </p:nvSpPr>
        <p:spPr>
          <a:xfrm>
            <a:off x="2931886" y="1348125"/>
            <a:ext cx="3062514" cy="349627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4" name="Picture 3" descr="juarez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962" y="1537993"/>
            <a:ext cx="2011680" cy="2651760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3089221" y="4370252"/>
            <a:ext cx="45720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D47A1"/>
                </a:solidFill>
              </a:defRPr>
            </a:pPr>
            <a:r>
              <a:rPr dirty="0"/>
              <a:t>Prof. Juarez </a:t>
            </a:r>
            <a:r>
              <a:rPr dirty="0" err="1"/>
              <a:t>Brandão</a:t>
            </a:r>
            <a:endParaRPr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8C26215F-25EC-42CB-8C28-F49B5FDB4F2C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ângulo 14">
            <a:extLst>
              <a:ext uri="{FF2B5EF4-FFF2-40B4-BE49-F238E27FC236}">
                <a16:creationId xmlns:a16="http://schemas.microsoft.com/office/drawing/2014/main" id="{2B92721F-8D73-4757-913A-A7AD3E9177B6}"/>
              </a:ext>
            </a:extLst>
          </p:cNvPr>
          <p:cNvSpPr/>
          <p:nvPr/>
        </p:nvSpPr>
        <p:spPr>
          <a:xfrm>
            <a:off x="0" y="1005840"/>
            <a:ext cx="9144000" cy="4142422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TextBox 12"/>
          <p:cNvSpPr txBox="1"/>
          <p:nvPr/>
        </p:nvSpPr>
        <p:spPr>
          <a:xfrm>
            <a:off x="7230221" y="3588358"/>
            <a:ext cx="1449436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8282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Thiago Henrique Santos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17820" y="3588358"/>
            <a:ext cx="1483098" cy="246221"/>
          </a:xfrm>
          <a:prstGeom prst="rect">
            <a:avLst/>
          </a:prstGeom>
          <a:solidFill>
            <a:schemeClr val="tx1"/>
          </a:solidFill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82828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Murilo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Tibério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de Barros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03320" y="3588032"/>
            <a:ext cx="1508746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282828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Vinícius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Teixeira Moreira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0465" y="3588358"/>
            <a:ext cx="135165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82828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Maicon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da Silva 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l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a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rio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4293" y="3588031"/>
            <a:ext cx="1468672" cy="2462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82828"/>
                </a:solidFill>
              </a:defRPr>
            </a:pPr>
            <a:r>
              <a:rPr dirty="0">
                <a:solidFill>
                  <a:schemeClr val="bg1">
                    <a:lumMod val="95000"/>
                  </a:schemeClr>
                </a:solidFill>
              </a:rPr>
              <a:t>Luiz Leonardo F</a:t>
            </a:r>
            <a:r>
              <a:rPr lang="pt-BR" dirty="0">
                <a:solidFill>
                  <a:schemeClr val="bg1">
                    <a:lumMod val="95000"/>
                  </a:schemeClr>
                </a:solidFill>
              </a:rPr>
              <a:t>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ria Dias</a:t>
            </a: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1CD72695-1162-46E3-821D-22F220F746A4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" name="TextBox 1"/>
          <p:cNvSpPr txBox="1"/>
          <p:nvPr/>
        </p:nvSpPr>
        <p:spPr>
          <a:xfrm>
            <a:off x="356707" y="138922"/>
            <a:ext cx="4544386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D47A1"/>
                </a:solidFill>
              </a:defRPr>
            </a:pPr>
            <a:r>
              <a:rPr sz="3200" dirty="0">
                <a:solidFill>
                  <a:schemeClr val="bg1">
                    <a:lumMod val="95000"/>
                  </a:schemeClr>
                </a:solidFill>
              </a:rPr>
              <a:t>INTEGRANTES DO GRUPO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76069" y="715453"/>
            <a:ext cx="3494098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A5A5A"/>
                </a:solidFill>
              </a:defRPr>
            </a:pP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Equipe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responsável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pelo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desenvolvimento</a:t>
            </a:r>
            <a:r>
              <a:rPr dirty="0">
                <a:solidFill>
                  <a:schemeClr val="bg1">
                    <a:lumMod val="95000"/>
                  </a:schemeClr>
                </a:solidFill>
              </a:rPr>
              <a:t> do </a:t>
            </a:r>
            <a:r>
              <a:rPr dirty="0" err="1">
                <a:solidFill>
                  <a:schemeClr val="bg1">
                    <a:lumMod val="95000"/>
                  </a:schemeClr>
                </a:solidFill>
              </a:rPr>
              <a:t>projeto</a:t>
            </a:r>
            <a:endParaRPr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CC7AD1C1-D657-45BE-886D-E957C0F40A34}"/>
              </a:ext>
            </a:extLst>
          </p:cNvPr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C0FE05E9-57E0-4D2A-9873-4FE406502212}"/>
              </a:ext>
            </a:extLst>
          </p:cNvPr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1200" dirty="0"/>
          </a:p>
        </p:txBody>
      </p:sp>
      <p:sp>
        <p:nvSpPr>
          <p:cNvPr id="19" name="Shape 4">
            <a:extLst>
              <a:ext uri="{FF2B5EF4-FFF2-40B4-BE49-F238E27FC236}">
                <a16:creationId xmlns:a16="http://schemas.microsoft.com/office/drawing/2014/main" id="{4316458E-08BF-4AFC-824D-B53797FDC835}"/>
              </a:ext>
            </a:extLst>
          </p:cNvPr>
          <p:cNvSpPr/>
          <p:nvPr/>
        </p:nvSpPr>
        <p:spPr>
          <a:xfrm>
            <a:off x="114293" y="1358211"/>
            <a:ext cx="8846827" cy="2070789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4" name="Picture 3" descr="luiz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463040"/>
            <a:ext cx="1325880" cy="1828800"/>
          </a:xfrm>
          <a:prstGeom prst="rect">
            <a:avLst/>
          </a:prstGeom>
        </p:spPr>
      </p:pic>
      <p:pic>
        <p:nvPicPr>
          <p:cNvPr id="6" name="Picture 5" descr="maicon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5960" y="1463040"/>
            <a:ext cx="1325880" cy="1828800"/>
          </a:xfrm>
          <a:prstGeom prst="rect">
            <a:avLst/>
          </a:prstGeom>
        </p:spPr>
      </p:pic>
      <p:pic>
        <p:nvPicPr>
          <p:cNvPr id="8" name="Picture 7" descr="vinici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49039" y="1463040"/>
            <a:ext cx="1325880" cy="1828800"/>
          </a:xfrm>
          <a:prstGeom prst="rect">
            <a:avLst/>
          </a:prstGeom>
        </p:spPr>
      </p:pic>
      <p:pic>
        <p:nvPicPr>
          <p:cNvPr id="10" name="Picture 9" descr="murilo.jf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463040"/>
            <a:ext cx="1325880" cy="1828800"/>
          </a:xfrm>
          <a:prstGeom prst="rect">
            <a:avLst/>
          </a:prstGeom>
        </p:spPr>
      </p:pic>
      <p:pic>
        <p:nvPicPr>
          <p:cNvPr id="12" name="Picture 11" descr="thiago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0" y="1463040"/>
            <a:ext cx="132588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INTRODUÇÃO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43000"/>
            <a:ext cx="41148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325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51560" y="132588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Jogo da Memória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5760" y="1920240"/>
            <a:ext cx="38404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Baseado no clássico Simon Says, o sistema gera sequências aleatórias de luzes e sons que o jogador deve repetir corretamente.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LEDs coloridos indicam a sequência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Botões registram as respostas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Buzzer emite sinais sonoros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Nível de dificuldade aumenta a cada acerto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4617720" y="1143000"/>
            <a:ext cx="429768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00600" y="132588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94960" y="13258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Portas Lógicas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4709160" y="1920240"/>
            <a:ext cx="402336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Demonstração prática do funcionamento das portas lógicas digitais AND, OR e NOT.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Conceitos fundamentais da computação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Sinais binários (0 e 1)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Tabelas verdade visualizadas com LEDs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Base de processadores modernos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OBJETIVOS DO PROJETO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887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188720"/>
            <a:ext cx="54864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43560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6012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Eletrônica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60120" y="1645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Aprender conceitos básicos de circuitos eletrônicos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228600" y="237744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228600" y="2377440"/>
            <a:ext cx="54864" cy="100584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262432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60120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Programação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96012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Desenvolver lógica de programação em Arduino IDE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228600" y="356616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>
            <a:off x="228600" y="3566160"/>
            <a:ext cx="54864" cy="10058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65760" y="3813048"/>
            <a:ext cx="457200" cy="45720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960120" y="365760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Lógica Digital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960120" y="4023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Compreender o funcionamento das portas lógicas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663440" y="118872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663440" y="1188720"/>
            <a:ext cx="54864" cy="10058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00600" y="1435608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394960" y="128016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Interatividade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5394960" y="16459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um sistema interativo com LEDs e botões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663440" y="2377440"/>
            <a:ext cx="4206240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4663440" y="2377440"/>
            <a:ext cx="54864" cy="100584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00600" y="2624328"/>
            <a:ext cx="457200" cy="45720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94960" y="246888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Prática</a:t>
            </a:r>
            <a:endParaRPr lang="en-US" sz="1500" dirty="0"/>
          </a:p>
        </p:txBody>
      </p:sp>
      <p:sp>
        <p:nvSpPr>
          <p:cNvPr id="31" name="Text 23"/>
          <p:cNvSpPr/>
          <p:nvPr/>
        </p:nvSpPr>
        <p:spPr>
          <a:xfrm>
            <a:off x="5394960" y="283464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Aplicar conceitos vistos em sala de aula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COMPONENTES UTILIZADOS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8872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132588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6012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32004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Arduino UNO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2004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Controlador principal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423160" y="118872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325880"/>
            <a:ext cx="548640" cy="548640"/>
          </a:xfrm>
          <a:prstGeom prst="ellipse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15468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4x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251460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LEDs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251460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Indicação visual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617720" y="118872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49240" y="132588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4924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4x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70916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Botões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470916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de dados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6812280" y="118872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543800" y="1325880"/>
            <a:ext cx="548640" cy="548640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543800" y="13258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1x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903720" y="193852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Buzzer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903720" y="23774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Emissão de som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228600" y="310896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960120" y="3246120"/>
            <a:ext cx="548640" cy="5486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9601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1x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320040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Protoboard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2004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Montagem do circuito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2423160" y="310896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154680" y="3246120"/>
            <a:ext cx="548640" cy="548640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15468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4x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2514600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Resistores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251460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Proteção dos LEDs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>
            <a:off x="4617720" y="3108960"/>
            <a:ext cx="201168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5349240" y="3246120"/>
            <a:ext cx="548640" cy="54864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34924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Vários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4709160" y="3858768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Jumpers</a:t>
            </a:r>
            <a:endParaRPr lang="en-US" sz="1300" dirty="0"/>
          </a:p>
        </p:txBody>
      </p:sp>
      <p:sp>
        <p:nvSpPr>
          <p:cNvPr id="41" name="Text 38"/>
          <p:cNvSpPr/>
          <p:nvPr/>
        </p:nvSpPr>
        <p:spPr>
          <a:xfrm>
            <a:off x="4709160" y="4297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Conexões elétricas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FUNCIONAMENTO DO ARDUINO UNO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43000"/>
            <a:ext cx="5029200" cy="356616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11480" y="12801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 Cérebro do Projeto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11480" y="178308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Arduino UNO funciona como o controlador central de todo o sistema. Ele recebe sinais elétricos dos botões, processa as informações e controla os LEDs e o buzzer.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11480" y="2697480"/>
            <a:ext cx="4663440" cy="3200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02920" y="269748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Microcontrolador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063240" y="26974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ATmega328P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11480" y="3081528"/>
            <a:ext cx="46634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2920" y="30815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3063240" y="308152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MHz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11480" y="3465576"/>
            <a:ext cx="4663440" cy="3200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346557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Pinos Digitais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3063240" y="346557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(6 PWM)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11480" y="3849624"/>
            <a:ext cx="4663440" cy="320040"/>
          </a:xfrm>
          <a:prstGeom prst="rect">
            <a:avLst/>
          </a:prstGeom>
          <a:solidFill>
            <a:srgbClr val="111827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2920" y="38496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Memória Flash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063240" y="38496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KB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11480" y="4233672"/>
            <a:ext cx="4663440" cy="320040"/>
          </a:xfrm>
          <a:prstGeom prst="rect">
            <a:avLst/>
          </a:prstGeom>
          <a:solidFill>
            <a:srgbClr val="1A2235"/>
          </a:solidFill>
          <a:ln w="12700">
            <a:solidFill>
              <a:srgbClr val="1A2235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502920" y="4233672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Tensão de Operação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3063240" y="4233672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5V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5486400" y="1143000"/>
            <a:ext cx="3429000" cy="3566160"/>
          </a:xfrm>
          <a:prstGeom prst="rect">
            <a:avLst/>
          </a:prstGeom>
          <a:solidFill>
            <a:srgbClr val="0D111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23560" y="128016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28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Arduino Code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623560" y="1645920"/>
            <a:ext cx="32004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setup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pinMode(2, OUTPUT);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pinMode(3, INPUT_PULLUP);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loop</a:t>
            </a: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{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digitalWrite(2, HIGH);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delay(500);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digitalWrite(2, LOW);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delay(500);</a:t>
            </a:r>
            <a:endParaRPr lang="en-US" sz="1100" dirty="0"/>
          </a:p>
          <a:p>
            <a:pPr marL="0" indent="0">
              <a:buNone/>
            </a:pP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PROJETO DO JOGO DA MEMÓRIA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8872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28600" y="1188720"/>
            <a:ext cx="2743200" cy="502920"/>
          </a:xfrm>
          <a:prstGeom prst="rect">
            <a:avLst/>
          </a:prstGeom>
          <a:solidFill>
            <a:srgbClr val="00E5FF">
              <a:alpha val="20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8328" y="1252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22960" y="1252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Inicialização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365760" y="1783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Configuração dos pinos e variáveis do sistema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154680" y="118872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154680" y="1188720"/>
            <a:ext cx="2743200" cy="502920"/>
          </a:xfrm>
          <a:prstGeom prst="rect">
            <a:avLst/>
          </a:prstGeom>
          <a:solidFill>
            <a:srgbClr val="7C3AED">
              <a:alpha val="20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264408" y="1252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3749040" y="1252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Sorteio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3291840" y="1783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Geração aleatória da sequência com random()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080760" y="118872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080760" y="1188720"/>
            <a:ext cx="2743200" cy="502920"/>
          </a:xfrm>
          <a:prstGeom prst="rect">
            <a:avLst/>
          </a:prstGeom>
          <a:solidFill>
            <a:srgbClr val="FFD700">
              <a:alpha val="20000"/>
            </a:srgbClr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190488" y="125272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7"/>
          <p:cNvSpPr/>
          <p:nvPr/>
        </p:nvSpPr>
        <p:spPr>
          <a:xfrm>
            <a:off x="6675120" y="12527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Exibição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217920" y="178308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LEDs acendem indicando a sequência ao jogador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" y="310896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" y="3108960"/>
            <a:ext cx="2743200" cy="502920"/>
          </a:xfrm>
          <a:prstGeom prst="rect">
            <a:avLst/>
          </a:prstGeom>
          <a:solidFill>
            <a:srgbClr val="10B981">
              <a:alpha val="2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38328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2296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Entrada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365760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Botões enviam sinais digitais ao Arduino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3154680" y="310896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154680" y="3108960"/>
            <a:ext cx="2743200" cy="502920"/>
          </a:xfrm>
          <a:prstGeom prst="rect">
            <a:avLst/>
          </a:prstGeom>
          <a:solidFill>
            <a:srgbClr val="F59E0B">
              <a:alpha val="20000"/>
            </a:srgbClr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264408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800" dirty="0"/>
          </a:p>
        </p:txBody>
      </p:sp>
      <p:sp>
        <p:nvSpPr>
          <p:cNvPr id="30" name="Text 27"/>
          <p:cNvSpPr/>
          <p:nvPr/>
        </p:nvSpPr>
        <p:spPr>
          <a:xfrm>
            <a:off x="374904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Comparação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3291840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compara a resposta do jogador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6080760" y="3108960"/>
            <a:ext cx="2743200" cy="1691640"/>
          </a:xfrm>
          <a:prstGeom prst="rect">
            <a:avLst/>
          </a:prstGeom>
          <a:solidFill>
            <a:srgbClr val="111827"/>
          </a:solidFill>
          <a:ln w="19050">
            <a:solidFill>
              <a:srgbClr val="EF444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80760" y="3108960"/>
            <a:ext cx="2743200" cy="502920"/>
          </a:xfrm>
          <a:prstGeom prst="rect">
            <a:avLst/>
          </a:prstGeom>
          <a:solidFill>
            <a:srgbClr val="EF4444">
              <a:alpha val="2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190488" y="317296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F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800" dirty="0"/>
          </a:p>
        </p:txBody>
      </p:sp>
      <p:sp>
        <p:nvSpPr>
          <p:cNvPr id="35" name="Text 32"/>
          <p:cNvSpPr/>
          <p:nvPr/>
        </p:nvSpPr>
        <p:spPr>
          <a:xfrm>
            <a:off x="6675120" y="31729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Game Over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6217920" y="3703320"/>
            <a:ext cx="24688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reinicia o sistema automaticamente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FLUXOGRAMA E LÓGICA DO SISTEMA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0" y="1143000"/>
            <a:ext cx="2743200" cy="457200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0F1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INÍCIO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3657600" y="1600200"/>
            <a:ext cx="0" cy="10972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286000" y="1737360"/>
            <a:ext cx="27432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2286000" y="1737360"/>
            <a:ext cx="54864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468880" y="173736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Configurar componentes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3657600" y="2194560"/>
            <a:ext cx="0" cy="10972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286000" y="2331720"/>
            <a:ext cx="27432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86000" y="2331720"/>
            <a:ext cx="54864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468880" y="23317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Sortear sequência aleatória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3657600" y="2788920"/>
            <a:ext cx="0" cy="10972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286000" y="2926080"/>
            <a:ext cx="27432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286000" y="2926080"/>
            <a:ext cx="54864" cy="4572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468880" y="292608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Exibir sequência nos LEDs</a:t>
            </a:r>
            <a:endParaRPr lang="en-US" sz="1200" dirty="0"/>
          </a:p>
        </p:txBody>
      </p:sp>
      <p:sp>
        <p:nvSpPr>
          <p:cNvPr id="21" name="Shape 18"/>
          <p:cNvSpPr/>
          <p:nvPr/>
        </p:nvSpPr>
        <p:spPr>
          <a:xfrm>
            <a:off x="3657600" y="3383280"/>
            <a:ext cx="0" cy="10972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286000" y="3520440"/>
            <a:ext cx="2743200" cy="45720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2286000" y="3520440"/>
            <a:ext cx="54864" cy="45720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468880" y="352044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Jogador pressiona botões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657600" y="3977640"/>
            <a:ext cx="0" cy="109728"/>
          </a:xfrm>
          <a:prstGeom prst="line">
            <a:avLst/>
          </a:prstGeom>
          <a:noFill/>
          <a:ln w="19050">
            <a:solidFill>
              <a:srgbClr val="00E5FF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2286000" y="4114800"/>
            <a:ext cx="2743200" cy="457200"/>
          </a:xfrm>
          <a:prstGeom prst="rect">
            <a:avLst/>
          </a:prstGeom>
          <a:solidFill>
            <a:srgbClr val="FFD700">
              <a:alpha val="80000"/>
            </a:srgbClr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286000" y="41148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◆  Resposta correta?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5669280" y="4114800"/>
            <a:ext cx="201168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669280" y="41148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SIM → Aumentar sequência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182880" y="4114800"/>
            <a:ext cx="1920240" cy="45720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82880" y="411480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NÃO → Reiniciar jogo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PORTAS LÓGICAS DIGITAIS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182880" y="1143000"/>
            <a:ext cx="292608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00E5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82880" y="1143000"/>
            <a:ext cx="2926080" cy="594360"/>
          </a:xfrm>
          <a:prstGeom prst="rect">
            <a:avLst/>
          </a:prstGeom>
          <a:solidFill>
            <a:srgbClr val="00E5FF">
              <a:alpha val="25000"/>
            </a:srgbClr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292608" y="1170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AND</a:t>
            </a:r>
            <a:endParaRPr lang="en-US" sz="2400" dirty="0"/>
          </a:p>
        </p:txBody>
      </p:sp>
      <p:sp>
        <p:nvSpPr>
          <p:cNvPr id="10" name="Text 7"/>
          <p:cNvSpPr/>
          <p:nvPr/>
        </p:nvSpPr>
        <p:spPr>
          <a:xfrm>
            <a:off x="1463040" y="117043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A·B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292608" y="181051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1 somente quando TODAS as entradas forem 1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292608" y="248716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Verdade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92608" y="2807208"/>
            <a:ext cx="731520" cy="347472"/>
          </a:xfrm>
          <a:prstGeom prst="rect">
            <a:avLst/>
          </a:prstGeom>
          <a:solidFill>
            <a:srgbClr val="00E5FF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9260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069848" y="2807208"/>
            <a:ext cx="731520" cy="347472"/>
          </a:xfrm>
          <a:prstGeom prst="rect">
            <a:avLst/>
          </a:prstGeom>
          <a:solidFill>
            <a:srgbClr val="00E5FF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6984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847088" y="2807208"/>
            <a:ext cx="731520" cy="347472"/>
          </a:xfrm>
          <a:prstGeom prst="rect">
            <a:avLst/>
          </a:prstGeom>
          <a:solidFill>
            <a:srgbClr val="00E5FF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84708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29260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9260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106984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06984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84708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84708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292608" y="363016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29260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1069848" y="363016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06984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1847088" y="363016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184708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8"/>
          <p:cNvSpPr/>
          <p:nvPr/>
        </p:nvSpPr>
        <p:spPr>
          <a:xfrm>
            <a:off x="292608" y="404164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9260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1069848" y="404164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6984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5" name="Shape 32"/>
          <p:cNvSpPr/>
          <p:nvPr/>
        </p:nvSpPr>
        <p:spPr>
          <a:xfrm>
            <a:off x="1847088" y="404164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184708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4"/>
          <p:cNvSpPr/>
          <p:nvPr/>
        </p:nvSpPr>
        <p:spPr>
          <a:xfrm>
            <a:off x="292608" y="445312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29260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1069848" y="445312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6984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1" name="Shape 38"/>
          <p:cNvSpPr/>
          <p:nvPr/>
        </p:nvSpPr>
        <p:spPr>
          <a:xfrm>
            <a:off x="1847088" y="4453128"/>
            <a:ext cx="731520" cy="347472"/>
          </a:xfrm>
          <a:prstGeom prst="rect">
            <a:avLst/>
          </a:prstGeom>
          <a:solidFill>
            <a:srgbClr val="00E5FF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84708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43" name="Shape 40"/>
          <p:cNvSpPr/>
          <p:nvPr/>
        </p:nvSpPr>
        <p:spPr>
          <a:xfrm>
            <a:off x="3246120" y="1143000"/>
            <a:ext cx="292608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3246120" y="1143000"/>
            <a:ext cx="2926080" cy="594360"/>
          </a:xfrm>
          <a:prstGeom prst="rect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355848" y="1170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OR</a:t>
            </a:r>
            <a:endParaRPr lang="en-US" sz="2400" dirty="0"/>
          </a:p>
        </p:txBody>
      </p:sp>
      <p:sp>
        <p:nvSpPr>
          <p:cNvPr id="46" name="Text 43"/>
          <p:cNvSpPr/>
          <p:nvPr/>
        </p:nvSpPr>
        <p:spPr>
          <a:xfrm>
            <a:off x="4526280" y="1170432"/>
            <a:ext cx="1463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A+B</a:t>
            </a:r>
            <a:endParaRPr lang="en-US" sz="2000" dirty="0"/>
          </a:p>
        </p:txBody>
      </p:sp>
      <p:sp>
        <p:nvSpPr>
          <p:cNvPr id="47" name="Text 44"/>
          <p:cNvSpPr/>
          <p:nvPr/>
        </p:nvSpPr>
        <p:spPr>
          <a:xfrm>
            <a:off x="3355848" y="181051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Saída 1 quando PELO MENOS uma entrada for 1</a:t>
            </a:r>
            <a:endParaRPr lang="en-US" sz="1150" dirty="0"/>
          </a:p>
        </p:txBody>
      </p:sp>
      <p:sp>
        <p:nvSpPr>
          <p:cNvPr id="48" name="Text 45"/>
          <p:cNvSpPr/>
          <p:nvPr/>
        </p:nvSpPr>
        <p:spPr>
          <a:xfrm>
            <a:off x="3355848" y="2487168"/>
            <a:ext cx="2697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Verdade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3355848" y="2807208"/>
            <a:ext cx="73152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335584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51" name="Shape 48"/>
          <p:cNvSpPr/>
          <p:nvPr/>
        </p:nvSpPr>
        <p:spPr>
          <a:xfrm>
            <a:off x="4133088" y="2807208"/>
            <a:ext cx="73152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413308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</a:t>
            </a:r>
            <a:endParaRPr lang="en-US" sz="1300" dirty="0"/>
          </a:p>
        </p:txBody>
      </p:sp>
      <p:sp>
        <p:nvSpPr>
          <p:cNvPr id="53" name="Shape 50"/>
          <p:cNvSpPr/>
          <p:nvPr/>
        </p:nvSpPr>
        <p:spPr>
          <a:xfrm>
            <a:off x="4910328" y="2807208"/>
            <a:ext cx="731520" cy="347472"/>
          </a:xfrm>
          <a:prstGeom prst="rect">
            <a:avLst/>
          </a:prstGeom>
          <a:solidFill>
            <a:srgbClr val="7C3AED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910328" y="280720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55" name="Shape 52"/>
          <p:cNvSpPr/>
          <p:nvPr/>
        </p:nvSpPr>
        <p:spPr>
          <a:xfrm>
            <a:off x="335584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335584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7" name="Shape 54"/>
          <p:cNvSpPr/>
          <p:nvPr/>
        </p:nvSpPr>
        <p:spPr>
          <a:xfrm>
            <a:off x="413308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13308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59" name="Shape 56"/>
          <p:cNvSpPr/>
          <p:nvPr/>
        </p:nvSpPr>
        <p:spPr>
          <a:xfrm>
            <a:off x="4910328" y="321868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910328" y="321868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1" name="Shape 58"/>
          <p:cNvSpPr/>
          <p:nvPr/>
        </p:nvSpPr>
        <p:spPr>
          <a:xfrm>
            <a:off x="3355848" y="363016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335584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63" name="Shape 60"/>
          <p:cNvSpPr/>
          <p:nvPr/>
        </p:nvSpPr>
        <p:spPr>
          <a:xfrm>
            <a:off x="4133088" y="363016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413308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5" name="Shape 62"/>
          <p:cNvSpPr/>
          <p:nvPr/>
        </p:nvSpPr>
        <p:spPr>
          <a:xfrm>
            <a:off x="4910328" y="3630168"/>
            <a:ext cx="73152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910328" y="363016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7" name="Shape 64"/>
          <p:cNvSpPr/>
          <p:nvPr/>
        </p:nvSpPr>
        <p:spPr>
          <a:xfrm>
            <a:off x="3355848" y="404164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335584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69" name="Shape 66"/>
          <p:cNvSpPr/>
          <p:nvPr/>
        </p:nvSpPr>
        <p:spPr>
          <a:xfrm>
            <a:off x="4133088" y="404164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13308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71" name="Shape 68"/>
          <p:cNvSpPr/>
          <p:nvPr/>
        </p:nvSpPr>
        <p:spPr>
          <a:xfrm>
            <a:off x="4910328" y="4041648"/>
            <a:ext cx="73152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4910328" y="404164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3" name="Shape 70"/>
          <p:cNvSpPr/>
          <p:nvPr/>
        </p:nvSpPr>
        <p:spPr>
          <a:xfrm>
            <a:off x="3355848" y="445312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4" name="Text 71"/>
          <p:cNvSpPr/>
          <p:nvPr/>
        </p:nvSpPr>
        <p:spPr>
          <a:xfrm>
            <a:off x="335584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5" name="Shape 72"/>
          <p:cNvSpPr/>
          <p:nvPr/>
        </p:nvSpPr>
        <p:spPr>
          <a:xfrm>
            <a:off x="4133088" y="4453128"/>
            <a:ext cx="73152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413308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7" name="Shape 74"/>
          <p:cNvSpPr/>
          <p:nvPr/>
        </p:nvSpPr>
        <p:spPr>
          <a:xfrm>
            <a:off x="4910328" y="4453128"/>
            <a:ext cx="731520" cy="347472"/>
          </a:xfrm>
          <a:prstGeom prst="rect">
            <a:avLst/>
          </a:prstGeom>
          <a:solidFill>
            <a:srgbClr val="7C3AED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4910328" y="4453128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79" name="Shape 76"/>
          <p:cNvSpPr/>
          <p:nvPr/>
        </p:nvSpPr>
        <p:spPr>
          <a:xfrm>
            <a:off x="6309360" y="1143000"/>
            <a:ext cx="2651760" cy="3657600"/>
          </a:xfrm>
          <a:prstGeom prst="rect">
            <a:avLst/>
          </a:prstGeom>
          <a:solidFill>
            <a:srgbClr val="1118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6309360" y="1143000"/>
            <a:ext cx="2651760" cy="59436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1" name="Text 78"/>
          <p:cNvSpPr/>
          <p:nvPr/>
        </p:nvSpPr>
        <p:spPr>
          <a:xfrm>
            <a:off x="6419088" y="117043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NOT</a:t>
            </a:r>
            <a:endParaRPr lang="en-US" sz="2400" dirty="0"/>
          </a:p>
        </p:txBody>
      </p:sp>
      <p:sp>
        <p:nvSpPr>
          <p:cNvPr id="82" name="Text 79"/>
          <p:cNvSpPr/>
          <p:nvPr/>
        </p:nvSpPr>
        <p:spPr>
          <a:xfrm>
            <a:off x="7589520" y="1170432"/>
            <a:ext cx="11887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Ā</a:t>
            </a:r>
            <a:endParaRPr lang="en-US" sz="2000" dirty="0"/>
          </a:p>
        </p:txBody>
      </p:sp>
      <p:sp>
        <p:nvSpPr>
          <p:cNvPr id="83" name="Text 80"/>
          <p:cNvSpPr/>
          <p:nvPr/>
        </p:nvSpPr>
        <p:spPr>
          <a:xfrm>
            <a:off x="6419088" y="1810512"/>
            <a:ext cx="2423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Inverte o valor da entrada — 0 vira 1, 1 vira 0</a:t>
            </a:r>
            <a:endParaRPr lang="en-US" sz="1150" dirty="0"/>
          </a:p>
        </p:txBody>
      </p:sp>
      <p:sp>
        <p:nvSpPr>
          <p:cNvPr id="84" name="Text 81"/>
          <p:cNvSpPr/>
          <p:nvPr/>
        </p:nvSpPr>
        <p:spPr>
          <a:xfrm>
            <a:off x="6419088" y="2487168"/>
            <a:ext cx="2423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Tabela Verdade</a:t>
            </a:r>
            <a:endParaRPr lang="en-US" sz="1100" dirty="0"/>
          </a:p>
        </p:txBody>
      </p:sp>
      <p:sp>
        <p:nvSpPr>
          <p:cNvPr id="85" name="Shape 82"/>
          <p:cNvSpPr/>
          <p:nvPr/>
        </p:nvSpPr>
        <p:spPr>
          <a:xfrm>
            <a:off x="6419088" y="2807208"/>
            <a:ext cx="105156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6" name="Text 83"/>
          <p:cNvSpPr/>
          <p:nvPr/>
        </p:nvSpPr>
        <p:spPr>
          <a:xfrm>
            <a:off x="6419088" y="28072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</a:t>
            </a:r>
            <a:endParaRPr lang="en-US" sz="1300" dirty="0"/>
          </a:p>
        </p:txBody>
      </p:sp>
      <p:sp>
        <p:nvSpPr>
          <p:cNvPr id="87" name="Shape 84"/>
          <p:cNvSpPr/>
          <p:nvPr/>
        </p:nvSpPr>
        <p:spPr>
          <a:xfrm>
            <a:off x="7516368" y="2807208"/>
            <a:ext cx="1051560" cy="347472"/>
          </a:xfrm>
          <a:prstGeom prst="rect">
            <a:avLst/>
          </a:prstGeom>
          <a:solidFill>
            <a:srgbClr val="10B981">
              <a:alpha val="70000"/>
            </a:srgbClr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88" name="Text 85"/>
          <p:cNvSpPr/>
          <p:nvPr/>
        </p:nvSpPr>
        <p:spPr>
          <a:xfrm>
            <a:off x="7516368" y="280720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</a:t>
            </a:r>
            <a:endParaRPr lang="en-US" sz="1300" dirty="0"/>
          </a:p>
        </p:txBody>
      </p:sp>
      <p:sp>
        <p:nvSpPr>
          <p:cNvPr id="89" name="Shape 86"/>
          <p:cNvSpPr/>
          <p:nvPr/>
        </p:nvSpPr>
        <p:spPr>
          <a:xfrm>
            <a:off x="6419088" y="3218688"/>
            <a:ext cx="105156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0" name="Text 87"/>
          <p:cNvSpPr/>
          <p:nvPr/>
        </p:nvSpPr>
        <p:spPr>
          <a:xfrm>
            <a:off x="6419088" y="32186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  <p:sp>
        <p:nvSpPr>
          <p:cNvPr id="91" name="Shape 88"/>
          <p:cNvSpPr/>
          <p:nvPr/>
        </p:nvSpPr>
        <p:spPr>
          <a:xfrm>
            <a:off x="7516368" y="3218688"/>
            <a:ext cx="1051560" cy="347472"/>
          </a:xfrm>
          <a:prstGeom prst="rect">
            <a:avLst/>
          </a:prstGeom>
          <a:solidFill>
            <a:srgbClr val="10B981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7516368" y="321868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3" name="Shape 90"/>
          <p:cNvSpPr/>
          <p:nvPr/>
        </p:nvSpPr>
        <p:spPr>
          <a:xfrm>
            <a:off x="6419088" y="3630168"/>
            <a:ext cx="105156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4" name="Text 91"/>
          <p:cNvSpPr/>
          <p:nvPr/>
        </p:nvSpPr>
        <p:spPr>
          <a:xfrm>
            <a:off x="6419088" y="36301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300" dirty="0"/>
          </a:p>
        </p:txBody>
      </p:sp>
      <p:sp>
        <p:nvSpPr>
          <p:cNvPr id="95" name="Shape 92"/>
          <p:cNvSpPr/>
          <p:nvPr/>
        </p:nvSpPr>
        <p:spPr>
          <a:xfrm>
            <a:off x="7516368" y="3630168"/>
            <a:ext cx="1051560" cy="347472"/>
          </a:xfrm>
          <a:prstGeom prst="rect">
            <a:avLst/>
          </a:prstGeom>
          <a:solidFill>
            <a:srgbClr val="1A2235"/>
          </a:solidFill>
          <a:ln w="6350">
            <a:solidFill>
              <a:srgbClr val="2D3748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7516368" y="36301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BD5E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" y="0"/>
            <a:ext cx="9070848" cy="10058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201168"/>
            <a:ext cx="548640" cy="548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201168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APLICAÇÕES REAIS</a:t>
            </a:r>
            <a:endParaRPr lang="en-US" sz="3000" dirty="0"/>
          </a:p>
        </p:txBody>
      </p:sp>
      <p:sp>
        <p:nvSpPr>
          <p:cNvPr id="6" name="Text 3"/>
          <p:cNvSpPr/>
          <p:nvPr/>
        </p:nvSpPr>
        <p:spPr>
          <a:xfrm>
            <a:off x="7772400" y="3200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28600" y="118872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860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💻</a:t>
            </a:r>
            <a:endParaRPr lang="en-US" sz="2800" dirty="0"/>
          </a:p>
        </p:txBody>
      </p:sp>
      <p:sp>
        <p:nvSpPr>
          <p:cNvPr id="9" name="Text 6"/>
          <p:cNvSpPr/>
          <p:nvPr/>
        </p:nvSpPr>
        <p:spPr>
          <a:xfrm>
            <a:off x="32004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5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Computadores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2004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Portas lógicas são a base de todo processador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154680" y="118872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15468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📱</a:t>
            </a:r>
            <a:endParaRPr lang="en-US" sz="2800" dirty="0"/>
          </a:p>
        </p:txBody>
      </p:sp>
      <p:sp>
        <p:nvSpPr>
          <p:cNvPr id="13" name="Text 10"/>
          <p:cNvSpPr/>
          <p:nvPr/>
        </p:nvSpPr>
        <p:spPr>
          <a:xfrm>
            <a:off x="324612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C3AED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Smartphones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24612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Bilhões de transistores em cada chip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080760" y="118872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141732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🤖</a:t>
            </a:r>
            <a:endParaRPr lang="en-US" sz="2800" dirty="0"/>
          </a:p>
        </p:txBody>
      </p:sp>
      <p:sp>
        <p:nvSpPr>
          <p:cNvPr id="17" name="Text 14"/>
          <p:cNvSpPr/>
          <p:nvPr/>
        </p:nvSpPr>
        <p:spPr>
          <a:xfrm>
            <a:off x="6172200" y="20574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0B98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Robótica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172200" y="242316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Arduino controla servos, sensores e atuadores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228600" y="310896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860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21" name="Text 18"/>
          <p:cNvSpPr/>
          <p:nvPr/>
        </p:nvSpPr>
        <p:spPr>
          <a:xfrm>
            <a:off x="32004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D7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IoT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320040" y="4343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residencial e Internet das Coisas</a:t>
            </a:r>
            <a:endParaRPr lang="en-US" sz="1050" dirty="0"/>
          </a:p>
        </p:txBody>
      </p:sp>
      <p:sp>
        <p:nvSpPr>
          <p:cNvPr id="23" name="Shape 20"/>
          <p:cNvSpPr/>
          <p:nvPr/>
        </p:nvSpPr>
        <p:spPr>
          <a:xfrm>
            <a:off x="3154680" y="310896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315468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🚗</a:t>
            </a:r>
            <a:endParaRPr lang="en-US" sz="2800" dirty="0"/>
          </a:p>
        </p:txBody>
      </p:sp>
      <p:sp>
        <p:nvSpPr>
          <p:cNvPr id="25" name="Text 22"/>
          <p:cNvSpPr/>
          <p:nvPr/>
        </p:nvSpPr>
        <p:spPr>
          <a:xfrm>
            <a:off x="324612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59E0B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Automotivo</a:t>
            </a:r>
            <a:endParaRPr lang="en-US" sz="1400" dirty="0"/>
          </a:p>
        </p:txBody>
      </p:sp>
      <p:sp>
        <p:nvSpPr>
          <p:cNvPr id="26" name="Text 23"/>
          <p:cNvSpPr/>
          <p:nvPr/>
        </p:nvSpPr>
        <p:spPr>
          <a:xfrm>
            <a:off x="3246120" y="4343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ECUs controlam injeção, ABS e airbag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6080760" y="3108960"/>
            <a:ext cx="2743200" cy="1691640"/>
          </a:xfrm>
          <a:prstGeom prst="rect">
            <a:avLst/>
          </a:prstGeom>
          <a:solidFill>
            <a:srgbClr val="111827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80760" y="333756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🏭</a:t>
            </a:r>
            <a:endParaRPr lang="en-US" sz="2800" dirty="0"/>
          </a:p>
        </p:txBody>
      </p:sp>
      <p:sp>
        <p:nvSpPr>
          <p:cNvPr id="29" name="Text 26"/>
          <p:cNvSpPr/>
          <p:nvPr/>
        </p:nvSpPr>
        <p:spPr>
          <a:xfrm>
            <a:off x="6172200" y="39776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EC489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Indústria 4.0</a:t>
            </a:r>
            <a:endParaRPr lang="en-US" sz="1400" dirty="0"/>
          </a:p>
        </p:txBody>
      </p:sp>
      <p:sp>
        <p:nvSpPr>
          <p:cNvPr id="30" name="Text 27"/>
          <p:cNvSpPr/>
          <p:nvPr/>
        </p:nvSpPr>
        <p:spPr>
          <a:xfrm>
            <a:off x="6172200" y="434340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industrial e sistemas SCADA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98280" y="0"/>
            <a:ext cx="45720" cy="51435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5106924"/>
            <a:ext cx="9144000" cy="36576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82880"/>
            <a:ext cx="8595360" cy="4754880"/>
          </a:xfrm>
          <a:prstGeom prst="rect">
            <a:avLst/>
          </a:prstGeom>
          <a:solidFill>
            <a:srgbClr val="111827"/>
          </a:solidFill>
          <a:ln w="635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137160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CONCLUSÃO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97280" y="205740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Aplicação prática de eletrônica digital e programação C++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97280" y="265176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Controle de entradas e saídas digitais com Arduino UNO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324612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Compreensão das portas lógicas AND, OR e NOT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097280" y="3840480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Base para sistemas computacionais complexos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74320" y="4389120"/>
            <a:ext cx="8595360" cy="548640"/>
          </a:xfrm>
          <a:prstGeom prst="rect">
            <a:avLst/>
          </a:prstGeom>
          <a:solidFill>
            <a:srgbClr val="10B981">
              <a:alpha val="15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" y="44165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kern="0" spc="1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ETEC Camargo Aranha  ·  Centro Paula Souza  ·  Desenvolvimento de Sistemas  · 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682</Words>
  <Application>Microsoft Office PowerPoint</Application>
  <PresentationFormat>Apresentação na tela (16:9)</PresentationFormat>
  <Paragraphs>218</Paragraphs>
  <Slides>12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7" baseType="lpstr">
      <vt:lpstr>Arial</vt:lpstr>
      <vt:lpstr>Arial Black</vt:lpstr>
      <vt:lpstr>Calibri</vt:lpstr>
      <vt:lpstr>Consolas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Jogo da Memória com Arduino e Portas Lógicas</dc:title>
  <dc:subject>PptxGenJS Presentation</dc:subject>
  <dc:creator>ETEC Camargo Aranha</dc:creator>
  <cp:lastModifiedBy>Lab 06-Micro 10</cp:lastModifiedBy>
  <cp:revision>3</cp:revision>
  <dcterms:created xsi:type="dcterms:W3CDTF">2026-05-13T22:43:04Z</dcterms:created>
  <dcterms:modified xsi:type="dcterms:W3CDTF">2026-05-13T23:30:40Z</dcterms:modified>
</cp:coreProperties>
</file>